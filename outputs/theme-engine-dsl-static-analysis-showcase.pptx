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bb752f75d4339" /><Relationship Type="http://schemas.openxmlformats.org/officeDocument/2006/relationships/extended-properties" Target="/docProps/app.xml" Id="Rd1bd2ab3f7f24415" /><Relationship Type="http://schemas.openxmlformats.org/officeDocument/2006/relationships/officeDocument" Target="/ppt/presentation.xml" Id="R587673440a554f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0881a97b6e46c8"/>
  </p:sldMasterIdLst>
  <p:notesMasterIdLst>
    <p:notesMasterId xmlns:r="http://schemas.openxmlformats.org/officeDocument/2006/relationships" r:id="Ra04b5a16905a47ee"/>
  </p:notesMasterIdLst>
  <p:sldIdLst>
    <p:sldId xmlns:r="http://schemas.openxmlformats.org/officeDocument/2006/relationships" id="256" r:id="R1f54438a5ed44bfd"/>
    <p:sldId xmlns:r="http://schemas.openxmlformats.org/officeDocument/2006/relationships" id="257" r:id="R8a9b74ff3798421e"/>
    <p:sldId xmlns:r="http://schemas.openxmlformats.org/officeDocument/2006/relationships" id="258" r:id="R609db426e4eb4b82"/>
    <p:sldId xmlns:r="http://schemas.openxmlformats.org/officeDocument/2006/relationships" id="259" r:id="Rda49b479b0f54747"/>
    <p:sldId xmlns:r="http://schemas.openxmlformats.org/officeDocument/2006/relationships" id="260" r:id="R84ee0bab57b84f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abfba2eb314385" /><Relationship Type="http://schemas.openxmlformats.org/officeDocument/2006/relationships/slideMaster" Target="/ppt/slideMasters/slideMaster1.xml" Id="Ra50881a97b6e46c8" /><Relationship Type="http://schemas.openxmlformats.org/officeDocument/2006/relationships/notesMaster" Target="/ppt/notesMasters/notesMaster1.xml" Id="Ra04b5a16905a47ee" /><Relationship Type="http://schemas.openxmlformats.org/officeDocument/2006/relationships/presProps" Target="/ppt/presProps.xml" Id="R01670236a5ca4e3f" /><Relationship Type="http://schemas.openxmlformats.org/officeDocument/2006/relationships/tableStyles" Target="/ppt/tableStyles.xml" Id="R280ddfcc98a643bf" /><Relationship Type="http://schemas.openxmlformats.org/officeDocument/2006/relationships/slide" Target="/ppt/slides/slide1.xml" Id="R1f54438a5ed44bfd" /><Relationship Type="http://schemas.openxmlformats.org/officeDocument/2006/relationships/slide" Target="/ppt/slides/slide2.xml" Id="R8a9b74ff3798421e" /><Relationship Type="http://schemas.openxmlformats.org/officeDocument/2006/relationships/slide" Target="/ppt/slides/slide3.xml" Id="R609db426e4eb4b82" /><Relationship Type="http://schemas.openxmlformats.org/officeDocument/2006/relationships/slide" Target="/ppt/slides/slide4.xml" Id="Rda49b479b0f54747" /><Relationship Type="http://schemas.openxmlformats.org/officeDocument/2006/relationships/slide" Target="/ppt/slides/slide5.xml" Id="R84ee0bab57b84f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03d5e64c844b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57c9014bf54183" /><Relationship Type="http://schemas.openxmlformats.org/officeDocument/2006/relationships/notesMaster" Target="/ppt/notesMasters/notesMaster1.xml" Id="R069a212d8bea42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38045034a54b72" /><Relationship Type="http://schemas.openxmlformats.org/officeDocument/2006/relationships/notesMaster" Target="/ppt/notesMasters/notesMaster1.xml" Id="Re3cea975e3f247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448dd8dcc040b4" /><Relationship Type="http://schemas.openxmlformats.org/officeDocument/2006/relationships/notesMaster" Target="/ppt/notesMasters/notesMaster1.xml" Id="R21c2cce993a240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49f2751a7c4372" /><Relationship Type="http://schemas.openxmlformats.org/officeDocument/2006/relationships/notesMaster" Target="/ppt/notesMasters/notesMaster1.xml" Id="R055f45cd114741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a36aca45f94278" /><Relationship Type="http://schemas.openxmlformats.org/officeDocument/2006/relationships/notesMaster" Target="/ppt/notesMasters/notesMaster1.xml" Id="Rfc79dddeff5a48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开场不要介绍 DSL 基础，听众都已经熟悉。</a:t>
            </a:r>
          </a:p>
          <a:p xmlns:a="http://schemas.openxmlformats.org/drawingml/2006/main">
            <a:r>
              <a:t>直接说：今天要证明的不是静态分析能保证主题运行，而是把运行前能确定的结构、引用、类型和组合语义变成可重复执行的工程契约。</a:t>
            </a:r>
          </a:p>
          <a:p xmlns:a="http://schemas.openxmlformats.org/drawingml/2006/main">
            <a:r>
              <a:t>强调资源完整性、引擎运行、真机效果、性能和功耗仍由现有门禁负责。</a:t>
            </a:r>
          </a:p>
          <a:p xmlns:a="http://schemas.openxmlformats.org/drawingml/2006/main">
            <a:r>
              <a:t>来源：showcase/SHOWCASE-PREPARATION.md。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先承认插件更所见即所得，然后解释技术骨干为什么仍要求 CLI。</a:t>
            </a:r>
          </a:p>
          <a:p xmlns:a="http://schemas.openxmlformats.org/drawingml/2006/main">
            <a:r>
              <a:t>插件服务人在当前编辑器里的即时反馈；CLI 把相同 Core 变成可批量、可复现、可被机器消费的执行面。</a:t>
            </a:r>
          </a:p>
          <a:p xmlns:a="http://schemas.openxmlformats.org/drawingml/2006/main">
            <a:r>
              <a:t>开发者侧价值包括迁移影响分析、规则回归、批量扫描和环境复现；流水线侧价值是 JSON、退出码和分阶段门禁。</a:t>
            </a:r>
          </a:p>
          <a:p xmlns:a="http://schemas.openxmlformats.org/drawingml/2006/main">
            <a:r>
              <a:t>措辞必须是“可接入流水线”，不要说“已经进入组织流水线”。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这页只负责建立可复现证据，然后立即进入真实终端。</a:t>
            </a:r>
          </a:p>
          <a:p xmlns:a="http://schemas.openxmlformats.org/drawingml/2006/main">
            <a:r>
              <a:t>演示顺序：clean 得到 0E/0W/exit 0；faulty 得到 5E/3W/exit 1。</a:t>
            </a:r>
          </a:p>
          <a:p xmlns:a="http://schemas.openxmlformats.org/drawingml/2006/main">
            <a:r>
              <a:t>只展开 SEM-PERSIST-001、SEM-SRCIMG-001、SEM-CMD-001。不要逐条念完八条诊断。</a:t>
            </a:r>
          </a:p>
          <a:p xmlns:a="http://schemas.openxmlformats.org/drawingml/2006/main">
            <a:r>
              <a:t>不要演示 script_rule_dsl_gap_probe.xml，它是 FIX005 的内部复现文件。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用实例解释三个层级，不要只讲抽象名词。</a:t>
            </a:r>
          </a:p>
          <a:p xmlns:a="http://schemas.openxmlformats.org/drawingml/2006/main">
            <a:r>
              <a:t>Level 1 例子：新增属性、枚举或 duration 字面量范围，主要改 JSON/局部谓词。</a:t>
            </a:r>
          </a:p>
          <a:p xmlns:a="http://schemas.openxmlformats.org/drawingml/2006/main">
            <a:r>
              <a:t>Level 2 例子：layered Group 最后一张 Image 的 hybridMode、MediaCommand 对 MediaController 的依赖，需要树或文档索引。</a:t>
            </a:r>
          </a:p>
          <a:p xmlns:a="http://schemas.openxmlformats.org/drawingml/2006/main">
            <a:r>
              <a:t>Level 3 例子：未来对象、继承、成员访问和重载，需要升级 grammar、AST、符号表与类型系统。</a:t>
            </a:r>
          </a:p>
          <a:p xmlns:a="http://schemas.openxmlformats.org/drawingml/2006/main">
            <a:r>
              <a:t>核心表述：JSON 是规则配置层，不是未来整个语言语义系统。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主动讲边界会提高可信度，不要等到被追问才承认。</a:t>
            </a:r>
          </a:p>
          <a:p xmlns:a="http://schemas.openxmlformats.org/drawingml/2006/main">
            <a:r>
              <a:t>当前可承诺的是固定样例、机器输出契约和共享 Core 架构；不承诺静态分析替代引擎、三端装配完全一致、全部约束均已验证。</a:t>
            </a:r>
          </a:p>
          <a:p xmlns:a="http://schemas.openxmlformats.org/drawingml/2006/main">
            <a:r>
              <a:t>会后建议顺序：FIX003 先解决插件装配；FIX004 重建可信测试基线；FIX006 校正规则身份；最后再通过 FIX005 激活更多规则。</a:t>
            </a:r>
          </a:p>
          <a:p xmlns:a="http://schemas.openxmlformats.org/drawingml/2006/main">
            <a:r>
              <a:t>以问题收尾：哪些规则应默认阻断，哪些只做 warning 或 opt-in profile？邀请领域专家参与规则治理。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2e9d88dc843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da5e42139b4102" /><Relationship Type="http://schemas.openxmlformats.org/officeDocument/2006/relationships/slideLayout" Target="/ppt/slideLayouts/slideLayout1.xml" Id="R533f570a0ff5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3f570a0ff5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e530d58744540" /><Relationship Type="http://schemas.openxmlformats.org/officeDocument/2006/relationships/notesSlide" Target="/ppt/notesSlides/notesSlide1.xml" Id="Re3632a43cc354b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325d9e6ce4e1f" /><Relationship Type="http://schemas.openxmlformats.org/officeDocument/2006/relationships/notesSlide" Target="/ppt/notesSlides/notesSlide2.xml" Id="R9eb5c7dfa6644e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de9598a174bd6" /><Relationship Type="http://schemas.openxmlformats.org/officeDocument/2006/relationships/notesSlide" Target="/ppt/notesSlides/notesSlide3.xml" Id="R9a127fa44cf741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e015d15aa4f65" /><Relationship Type="http://schemas.openxmlformats.org/officeDocument/2006/relationships/notesSlide" Target="/ppt/notesSlides/notesSlide4.xml" Id="Rfe02a864b2b946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7eab85e8d4aaa" /><Relationship Type="http://schemas.openxmlformats.org/officeDocument/2006/relationships/notesSlide" Target="/ppt/notesSlides/notesSlide5.xml" Id="Rf3015b8b79bf4b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line">
            <a:extLst xmlns:a="http://schemas.openxmlformats.org/drawingml/2006/main">
              <a:ext uri="{FF2B5EF4-FFF2-40B4-BE49-F238E27FC236}">
                <a16:creationId xmlns:a16="http://schemas.microsoft.com/office/drawing/2014/main" id="{4C0E0994-0A54-4B20-9488-497B4760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562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8769D69-E2D9-4AF8-86CF-1F3A41E3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THEME ENGINE DSL · STATIC ANALYSIS</a:t>
            </a:r>
          </a:p>
        </p:txBody>
      </p:sp>
      <p:sp>
        <p:nvSpPr>
          <p:cNvPr id="3" name="thesis">
            <a:extLst xmlns:a="http://schemas.openxmlformats.org/drawingml/2006/main">
              <a:ext uri="{FF2B5EF4-FFF2-40B4-BE49-F238E27FC236}">
                <a16:creationId xmlns:a16="http://schemas.microsoft.com/office/drawing/2014/main" id="{BB91564C-8B92-40C8-AE0D-B25ABF8A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28700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把熟悉的 DSL 规则
变成可执行的工程契约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B8103B2-E6CC-48D1-BB92-7A227CBF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9334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不替代引擎运行；把运行前能确定的问题，稳定地拦在更早阶段。</a:t>
            </a:r>
          </a:p>
        </p:txBody>
      </p:sp>
      <p:sp>
        <p:nvSpPr>
          <p:cNvPr id="5" name="date">
            <a:extLst xmlns:a="http://schemas.openxmlformats.org/drawingml/2006/main">
              <a:ext uri="{FF2B5EF4-FFF2-40B4-BE49-F238E27FC236}">
                <a16:creationId xmlns:a16="http://schemas.microsoft.com/office/drawing/2014/main" id="{9C3A5BAE-68A2-4212-A8EB-81CAAEE8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Showcase · 2026.07.16</a:t>
            </a:r>
          </a:p>
        </p:txBody>
      </p:sp>
      <p:sp>
        <p:nvSpPr>
          <p:cNvPr id="6" name="source-1">
            <a:extLst xmlns:a="http://schemas.openxmlformats.org/drawingml/2006/main">
              <a:ext uri="{FF2B5EF4-FFF2-40B4-BE49-F238E27FC236}">
                <a16:creationId xmlns:a16="http://schemas.microsoft.com/office/drawing/2014/main" id="{E615D4BD-AF00-4E3A-879A-AA5AD7EE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来源：项目 Showcase 准备材料 · main@3857eb7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5713286B-A147-4E3B-B092-36ED3577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05248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CCD7668-31C4-40B1-97D6-4316BA55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插件解决“此刻看到什么”，CLI 解决“团队能否重复得到同一结论”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3BC10F66-DF2E-4CA0-B0F2-19E949DA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D5FBCAEC-CE7E-4805-8F14-D893AF30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4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A2EB5DF5-BD41-4358-90DF-758923FA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143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E86A9046-0718-4DDB-8402-D271D202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323850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即时反馈
所见即所得
服务单个开发者的编辑过程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8884859C-D36D-4489-AD3E-2154D723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09800"/>
            <a:ext cx="114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7" name="head-1">
            <a:extLst xmlns:a="http://schemas.openxmlformats.org/drawingml/2006/main">
              <a:ext uri="{FF2B5EF4-FFF2-40B4-BE49-F238E27FC236}">
                <a16:creationId xmlns:a16="http://schemas.microsoft.com/office/drawing/2014/main" id="{9E916F5C-773A-4F89-B461-3A44ADD9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143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共享 Core</a:t>
            </a:r>
          </a:p>
        </p:txBody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534B0F90-CBC9-4F4A-A7FE-82BB0255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81400"/>
            <a:ext cx="323850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 AST
同一诊断模型
同一规则与 Analyzer 入口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3AD5F88C-DCDB-4881-86AE-A8803BD6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114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0" name="head-2">
            <a:extLst xmlns:a="http://schemas.openxmlformats.org/drawingml/2006/main">
              <a:ext uri="{FF2B5EF4-FFF2-40B4-BE49-F238E27FC236}">
                <a16:creationId xmlns:a16="http://schemas.microsoft.com/office/drawing/2014/main" id="{589F678E-EBE1-4843-A4D1-8B5249D4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143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CLI</a:t>
            </a:r>
          </a:p>
        </p:txBody>
      </p:sp>
      <p:sp>
        <p:nvSpPr>
          <p:cNvPr id="11" name="body-2">
            <a:extLst xmlns:a="http://schemas.openxmlformats.org/drawingml/2006/main">
              <a:ext uri="{FF2B5EF4-FFF2-40B4-BE49-F238E27FC236}">
                <a16:creationId xmlns:a16="http://schemas.microsoft.com/office/drawing/2014/main" id="{D45318AF-B1EF-4B96-8511-39BF00C5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81400"/>
            <a:ext cx="323850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批量扫描
JSON + exit code
服务 CI、迁移、回归与审计</a:t>
            </a:r>
          </a:p>
        </p:txBody>
      </p:sp>
      <p:sp>
        <p:nvSpPr>
          <p:cNvPr id="12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3F2A2C27-0628-4975-B207-539C0AD9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</p:spPr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A86CE2C5-1C84-4506-9F59-709F9CDC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00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CLI 不是插件的降级版，而是静态分析能力的机器执行面。</a:t>
            </a:r>
          </a:p>
        </p:txBody>
      </p:sp>
      <p:sp>
        <p:nvSpPr>
          <p:cNvPr id="14" name="source-2">
            <a:extLst xmlns:a="http://schemas.openxmlformats.org/drawingml/2006/main">
              <a:ext uri="{FF2B5EF4-FFF2-40B4-BE49-F238E27FC236}">
                <a16:creationId xmlns:a16="http://schemas.microsoft.com/office/drawing/2014/main" id="{B640C7C6-B8D6-4C35-B217-17C9091C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来源：项目架构、CLI 输出契约与 Showcase 准备材料</a:t>
            </a:r>
          </a:p>
        </p:txBody>
      </p:sp>
      <p:sp>
        <p:nvSpPr>
          <p:cNvPr id="15" name="page-2">
            <a:extLst xmlns:a="http://schemas.openxmlformats.org/drawingml/2006/main">
              <a:ext uri="{FF2B5EF4-FFF2-40B4-BE49-F238E27FC236}">
                <a16:creationId xmlns:a16="http://schemas.microsoft.com/office/drawing/2014/main" id="{AF7DCE36-F7F7-4E6F-8161-7EC5F448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0366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E0F1672-EE9B-4E2F-BDDA-929C9025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真实主题脚本在运行前稳定暴露 5 个错误与 3 个警告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080735BB-892B-4426-BD93-0AEC753F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 Fat JAR、同一规则包、同一命令；clean 与 faulty 成对验证。</a:t>
            </a:r>
          </a:p>
        </p:txBody>
      </p:sp>
      <p:sp>
        <p:nvSpPr>
          <p:cNvPr id="3" name="card-0">
            <a:extLst xmlns:a="http://schemas.openxmlformats.org/drawingml/2006/main">
              <a:ext uri="{FF2B5EF4-FFF2-40B4-BE49-F238E27FC236}">
                <a16:creationId xmlns:a16="http://schemas.microsoft.com/office/drawing/2014/main" id="{5D4143E1-E238-48D3-877F-A54ACDFD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57187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EF8FD"/>
          </a:solidFill>
        </p:spPr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FA5A6DBE-B74F-41E4-A53A-EC224D1E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43150"/>
            <a:ext cx="357187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8F1FF"/>
          </a:solidFill>
        </p:spPr>
      </p:sp>
      <p:sp>
        <p:nvSpPr>
          <p:cNvPr id="5" name="card-2">
            <a:extLst xmlns:a="http://schemas.openxmlformats.org/drawingml/2006/main">
              <a:ext uri="{FF2B5EF4-FFF2-40B4-BE49-F238E27FC236}">
                <a16:creationId xmlns:a16="http://schemas.microsoft.com/office/drawing/2014/main" id="{D0C9D175-E53F-461B-8CBF-34F690E4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357187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stat-0">
            <a:extLst xmlns:a="http://schemas.openxmlformats.org/drawingml/2006/main">
              <a:ext uri="{FF2B5EF4-FFF2-40B4-BE49-F238E27FC236}">
                <a16:creationId xmlns:a16="http://schemas.microsoft.com/office/drawing/2014/main" id="{02383C41-4BC4-4101-B0E1-203FE343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9241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 E / 0 W</a:t>
            </a:r>
          </a:p>
        </p:txBody>
      </p:sp>
      <p:sp>
        <p:nvSpPr>
          <p:cNvPr id="7" name="card-body-0">
            <a:extLst xmlns:a="http://schemas.openxmlformats.org/drawingml/2006/main">
              <a:ext uri="{FF2B5EF4-FFF2-40B4-BE49-F238E27FC236}">
                <a16:creationId xmlns:a16="http://schemas.microsoft.com/office/drawing/2014/main" id="{B0C90C16-C08C-4DFD-B52D-6C6339EF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92417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clean 脚本
exit 0</a:t>
            </a:r>
          </a:p>
        </p:txBody>
      </p:sp>
      <p:sp>
        <p:nvSpPr>
          <p:cNvPr id="8" name="stat-1">
            <a:extLst xmlns:a="http://schemas.openxmlformats.org/drawingml/2006/main">
              <a:ext uri="{FF2B5EF4-FFF2-40B4-BE49-F238E27FC236}">
                <a16:creationId xmlns:a16="http://schemas.microsoft.com/office/drawing/2014/main" id="{227E65E7-4F7A-48E1-A55C-E63D668C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57500"/>
            <a:ext cx="29241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5 E / 3 W</a:t>
            </a:r>
          </a:p>
        </p:txBody>
      </p:sp>
      <p:sp>
        <p:nvSpPr>
          <p:cNvPr id="9" name="card-body-1">
            <a:extLst xmlns:a="http://schemas.openxmlformats.org/drawingml/2006/main">
              <a:ext uri="{FF2B5EF4-FFF2-40B4-BE49-F238E27FC236}">
                <a16:creationId xmlns:a16="http://schemas.microsoft.com/office/drawing/2014/main" id="{D88E1210-DCF9-4006-A8AB-6B474EE2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71950"/>
            <a:ext cx="292417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faulty 脚本
exit 1</a:t>
            </a:r>
          </a:p>
        </p:txBody>
      </p:sp>
      <p:sp>
        <p:nvSpPr>
          <p:cNvPr id="10" name="stat-2">
            <a:extLst xmlns:a="http://schemas.openxmlformats.org/drawingml/2006/main">
              <a:ext uri="{FF2B5EF4-FFF2-40B4-BE49-F238E27FC236}">
                <a16:creationId xmlns:a16="http://schemas.microsoft.com/office/drawing/2014/main" id="{DFF7D66E-B4CB-4A85-8AF4-5898C06C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9241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3 类</a:t>
            </a:r>
          </a:p>
        </p:txBody>
      </p:sp>
      <p:sp>
        <p:nvSpPr>
          <p:cNvPr id="11" name="card-body-2">
            <a:extLst xmlns:a="http://schemas.openxmlformats.org/drawingml/2006/main">
              <a:ext uri="{FF2B5EF4-FFF2-40B4-BE49-F238E27FC236}">
                <a16:creationId xmlns:a16="http://schemas.microsoft.com/office/drawing/2014/main" id="{E5E37135-D3A2-4AE1-816A-53168DB6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2924175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持久化 · 帧解锁
命令属性互斥</a:t>
            </a:r>
          </a:p>
        </p:txBody>
      </p:sp>
      <p:sp>
        <p:nvSpPr>
          <p:cNvPr id="12" name="demo-cue">
            <a:extLst xmlns:a="http://schemas.openxmlformats.org/drawingml/2006/main">
              <a:ext uri="{FF2B5EF4-FFF2-40B4-BE49-F238E27FC236}">
                <a16:creationId xmlns:a16="http://schemas.microsoft.com/office/drawing/2014/main" id="{AEF27E43-3E8E-4161-8A5B-8FD40448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28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 这里切到终端：先跑 clean，再跑 faulty，只展开三条代表诊断。</a:t>
            </a:r>
          </a:p>
        </p:txBody>
      </p:sp>
      <p:sp>
        <p:nvSpPr>
          <p:cNvPr id="13" name="source-3">
            <a:extLst xmlns:a="http://schemas.openxmlformats.org/drawingml/2006/main">
              <a:ext uri="{FF2B5EF4-FFF2-40B4-BE49-F238E27FC236}">
                <a16:creationId xmlns:a16="http://schemas.microsoft.com/office/drawing/2014/main" id="{196449B1-ECCF-4274-A212-E60BDA5B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来源：2026-07-15 当前 Fat JAR 实测</a:t>
            </a:r>
          </a:p>
        </p:txBody>
      </p:sp>
      <p:sp>
        <p:nvSpPr>
          <p:cNvPr id="14" name="page-3">
            <a:extLst xmlns:a="http://schemas.openxmlformats.org/drawingml/2006/main">
              <a:ext uri="{FF2B5EF4-FFF2-40B4-BE49-F238E27FC236}">
                <a16:creationId xmlns:a16="http://schemas.microsoft.com/office/drawing/2014/main" id="{AD1BEF61-91BF-4766-A95A-3317A6FE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69209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332DC04-5766-4933-8C39-D72D66FA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语言越像 OOP，扩展点越要从 JSON 上移到语义层</a:t>
            </a:r>
          </a:p>
        </p:txBody>
      </p:sp>
      <p:cxnSp>
        <p:nvCxnSpPr>
          <p:cNvPr id="20" name="timeline"/>
          <p:cNvCxnSpPr/>
          <p:nvPr/>
        </p:nvCxnSpPr>
        <p:spPr>
          <a:xfrm xmlns:a="http://schemas.openxmlformats.org/drawingml/2006/main">
            <a:off x="400050" y="3048000"/>
            <a:ext cx="11391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E0DA1B18-AA74-4627-BD09-B24B1ED4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dot-1">
            <a:extLst xmlns:a="http://schemas.openxmlformats.org/drawingml/2006/main">
              <a:ext uri="{FF2B5EF4-FFF2-40B4-BE49-F238E27FC236}">
                <a16:creationId xmlns:a16="http://schemas.microsoft.com/office/drawing/2014/main" id="{18D9AA72-63AD-4C95-86BD-7B163D38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813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dot-2">
            <a:extLst xmlns:a="http://schemas.openxmlformats.org/drawingml/2006/main">
              <a:ext uri="{FF2B5EF4-FFF2-40B4-BE49-F238E27FC236}">
                <a16:creationId xmlns:a16="http://schemas.microsoft.com/office/drawing/2014/main" id="{71706A96-ACBB-4DA0-9858-7146DCC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813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label-0">
            <a:extLst xmlns:a="http://schemas.openxmlformats.org/drawingml/2006/main">
              <a:ext uri="{FF2B5EF4-FFF2-40B4-BE49-F238E27FC236}">
                <a16:creationId xmlns:a16="http://schemas.microsoft.com/office/drawing/2014/main" id="{0E2E1397-9366-4EC0-8FB6-03E765F0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LEVEL 1</a:t>
            </a:r>
          </a:p>
        </p:txBody>
      </p:sp>
      <p:sp>
        <p:nvSpPr>
          <p:cNvPr id="7" name="head-0">
            <a:extLst xmlns:a="http://schemas.openxmlformats.org/drawingml/2006/main">
              <a:ext uri="{FF2B5EF4-FFF2-40B4-BE49-F238E27FC236}">
                <a16:creationId xmlns:a16="http://schemas.microsoft.com/office/drawing/2014/main" id="{92FCE1B9-A1E9-421A-A40D-BB5ADC4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字段与局部约束</a:t>
            </a:r>
          </a:p>
        </p:txBody>
      </p:sp>
      <p:sp>
        <p:nvSpPr>
          <p:cNvPr id="8" name="body-0">
            <a:extLst xmlns:a="http://schemas.openxmlformats.org/drawingml/2006/main">
              <a:ext uri="{FF2B5EF4-FFF2-40B4-BE49-F238E27FC236}">
                <a16:creationId xmlns:a16="http://schemas.microsoft.com/office/drawing/2014/main" id="{8F6BF51C-FC85-4ACB-801E-DEDE17D2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238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属性 / 枚举 / 字面量范围
JSON + Rule DSL</a:t>
            </a:r>
          </a:p>
        </p:txBody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70239224-0D14-426B-A8BB-746C6319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574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LEVEL 2</a:t>
            </a:r>
          </a:p>
        </p:txBody>
      </p: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4E32A8CC-2617-49A6-9CE0-A7339154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4330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树与文档语义</a:t>
            </a:r>
          </a:p>
        </p:txBody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2D9E3D39-FE7F-428F-9CF0-2B2F5B04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71950"/>
            <a:ext cx="3238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兄弟顺序 / 跨节点依赖
Tree / Document Analyzer</a:t>
            </a:r>
          </a:p>
        </p:txBody>
      </p:sp>
      <p:sp>
        <p:nvSpPr>
          <p:cNvPr id="12" name="label-2">
            <a:extLst xmlns:a="http://schemas.openxmlformats.org/drawingml/2006/main">
              <a:ext uri="{FF2B5EF4-FFF2-40B4-BE49-F238E27FC236}">
                <a16:creationId xmlns:a16="http://schemas.microsoft.com/office/drawing/2014/main" id="{134AE559-0B55-47C7-9E89-0A3CEBD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LEVEL 3</a:t>
            </a:r>
          </a:p>
        </p:txBody>
      </p:sp>
      <p:sp>
        <p:nvSpPr>
          <p:cNvPr id="13" name="head-2">
            <a:extLst xmlns:a="http://schemas.openxmlformats.org/drawingml/2006/main">
              <a:ext uri="{FF2B5EF4-FFF2-40B4-BE49-F238E27FC236}">
                <a16:creationId xmlns:a16="http://schemas.microsoft.com/office/drawing/2014/main" id="{B407FDBC-60BE-4F26-9A28-37AC841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4330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语言内核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37FE4DD-30AA-4203-B479-E3ED55F6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238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函数 / 作用域 / 对象 / 继承
grammar + AST + 类型系统</a:t>
            </a:r>
          </a:p>
        </p:txBody>
      </p:sp>
      <p:sp>
        <p:nvSpPr>
          <p:cNvPr id="15" name="accent-bar">
            <a:extLst xmlns:a="http://schemas.openxmlformats.org/drawingml/2006/main">
              <a:ext uri="{FF2B5EF4-FFF2-40B4-BE49-F238E27FC236}">
                <a16:creationId xmlns:a16="http://schemas.microsoft.com/office/drawing/2014/main" id="{DAAE0DD7-3E26-4715-B693-1D34C898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4BABB942-F8DF-44DF-B25E-5A1D0166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57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插件、CLI、LSP 共用 Core：交付面不会乘三，复杂度增长集中在语言语义。</a:t>
            </a:r>
          </a:p>
        </p:txBody>
      </p:sp>
      <p:sp>
        <p:nvSpPr>
          <p:cNvPr id="17" name="source-4">
            <a:extLst xmlns:a="http://schemas.openxmlformats.org/drawingml/2006/main">
              <a:ext uri="{FF2B5EF4-FFF2-40B4-BE49-F238E27FC236}">
                <a16:creationId xmlns:a16="http://schemas.microsoft.com/office/drawing/2014/main" id="{0057E7E2-2ABE-4051-B840-88A0858C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来源：theme-engine-next 分类与项目扩展性审计</a:t>
            </a:r>
          </a:p>
        </p:txBody>
      </p:sp>
      <p:sp>
        <p:nvSpPr>
          <p:cNvPr id="18" name="page-4">
            <a:extLst xmlns:a="http://schemas.openxmlformats.org/drawingml/2006/main">
              <a:ext uri="{FF2B5EF4-FFF2-40B4-BE49-F238E27FC236}">
                <a16:creationId xmlns:a16="http://schemas.microsoft.com/office/drawing/2014/main" id="{1E9A86D3-8872-41A4-B766-7EC58F07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5599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9A3CC80-531B-4BDF-BCBF-4294719A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可信度来自明确边界，而不是规则数量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C5F6F4CE-234E-4AFB-A32A-6A317663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Showcase 只展示已 E2E 验证的能力；未验证规则不进入阻断门禁。</a:t>
            </a:r>
          </a:p>
        </p:txBody>
      </p:sp>
      <p:sp>
        <p:nvSpPr>
          <p:cNvPr id="3" name="left-card">
            <a:extLst xmlns:a="http://schemas.openxmlformats.org/drawingml/2006/main">
              <a:ext uri="{FF2B5EF4-FFF2-40B4-BE49-F238E27FC236}">
                <a16:creationId xmlns:a16="http://schemas.microsoft.com/office/drawing/2014/main" id="{77D9B7F5-4CE3-428A-AE38-2F82E641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534025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EEF8FD"/>
          </a:solidFill>
        </p:spPr>
      </p:sp>
      <p:sp>
        <p:nvSpPr>
          <p:cNvPr id="4" name="right-card">
            <a:extLst xmlns:a="http://schemas.openxmlformats.org/drawingml/2006/main">
              <a:ext uri="{FF2B5EF4-FFF2-40B4-BE49-F238E27FC236}">
                <a16:creationId xmlns:a16="http://schemas.microsoft.com/office/drawing/2014/main" id="{4DC64523-E070-4533-B547-EF6C1BB3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5534025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left-head">
            <a:extLst xmlns:a="http://schemas.openxmlformats.org/drawingml/2006/main">
              <a:ext uri="{FF2B5EF4-FFF2-40B4-BE49-F238E27FC236}">
                <a16:creationId xmlns:a16="http://schemas.microsoft.com/office/drawing/2014/main" id="{9E9F28C4-1217-4152-88AD-89331237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现在可以承诺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BCB8DF84-9CE1-44B9-B610-3334C4C4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4810125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clean / faulty 可复现
• JSON 与 exit code 可被机器消费
• 插件、CLI、LSP 共享 Core</a:t>
            </a:r>
          </a:p>
        </p:txBody>
      </p:sp>
      <p:sp>
        <p:nvSpPr>
          <p:cNvPr id="7" name="right-head">
            <a:extLst xmlns:a="http://schemas.openxmlformats.org/drawingml/2006/main">
              <a:ext uri="{FF2B5EF4-FFF2-40B4-BE49-F238E27FC236}">
                <a16:creationId xmlns:a16="http://schemas.microsoft.com/office/drawing/2014/main" id="{4571D8A9-30AC-4355-8E38-CD9B3D0D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955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现在不做承诺</a:t>
            </a:r>
          </a:p>
        </p:txBody>
      </p:sp>
      <p:sp>
        <p:nvSpPr>
          <p:cNvPr id="8" name="right-body">
            <a:extLst xmlns:a="http://schemas.openxmlformats.org/drawingml/2006/main">
              <a:ext uri="{FF2B5EF4-FFF2-40B4-BE49-F238E27FC236}">
                <a16:creationId xmlns:a16="http://schemas.microsoft.com/office/drawing/2014/main" id="{3F1F81B5-CEA2-4FDC-9D89-9F82D537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24200"/>
            <a:ext cx="4810125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静态分析保证主题可运行
• 三端装配已经完全一致
• 75 条 constraint 都可执行、可追溯</a:t>
            </a:r>
          </a:p>
        </p:txBody>
      </p:sp>
      <p:sp>
        <p:nvSpPr>
          <p:cNvPr id="9" name="next-rule">
            <a:extLst xmlns:a="http://schemas.openxmlformats.org/drawingml/2006/main">
              <a:ext uri="{FF2B5EF4-FFF2-40B4-BE49-F238E27FC236}">
                <a16:creationId xmlns:a16="http://schemas.microsoft.com/office/drawing/2014/main" id="{E3A7692E-39F6-43C2-A1A1-28F9D92D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next-label">
            <a:extLst xmlns:a="http://schemas.openxmlformats.org/drawingml/2006/main">
              <a:ext uri="{FF2B5EF4-FFF2-40B4-BE49-F238E27FC236}">
                <a16:creationId xmlns:a16="http://schemas.microsoft.com/office/drawing/2014/main" id="{3C150165-2247-420F-A927-7B2F90FE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11" name="roadmap">
            <a:extLst xmlns:a="http://schemas.openxmlformats.org/drawingml/2006/main">
              <a:ext uri="{FF2B5EF4-FFF2-40B4-BE49-F238E27FC236}">
                <a16:creationId xmlns:a16="http://schemas.microsoft.com/office/drawing/2014/main" id="{FEE1FED5-368D-4242-94C4-24E83FA1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90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FIX003 装配一致性  →  FIX004 测试基线  →  FIX006 规则真值  →  FIX005 执行能力</a:t>
            </a:r>
          </a:p>
        </p:txBody>
      </p:sp>
      <p:sp>
        <p:nvSpPr>
          <p:cNvPr id="12" name="question">
            <a:extLst xmlns:a="http://schemas.openxmlformats.org/drawingml/2006/main">
              <a:ext uri="{FF2B5EF4-FFF2-40B4-BE49-F238E27FC236}">
                <a16:creationId xmlns:a16="http://schemas.microsoft.com/office/drawing/2014/main" id="{6A5CFE12-F030-4EEE-B923-51937147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762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讨论：哪些规则应该阻断，哪些只提醒？</a:t>
            </a:r>
          </a:p>
        </p:txBody>
      </p:sp>
      <p:sp>
        <p:nvSpPr>
          <p:cNvPr id="13" name="source-5">
            <a:extLst xmlns:a="http://schemas.openxmlformats.org/drawingml/2006/main">
              <a:ext uri="{FF2B5EF4-FFF2-40B4-BE49-F238E27FC236}">
                <a16:creationId xmlns:a16="http://schemas.microsoft.com/office/drawing/2014/main" id="{F4E6FD38-C151-4744-A2C8-7F0EAFC6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来源：Showcase 风险审计与 BACKLOG（FIX003–FIX006）</a:t>
            </a:r>
          </a:p>
        </p:txBody>
      </p:sp>
      <p:sp>
        <p:nvSpPr>
          <p:cNvPr id="14" name="page-5">
            <a:extLst xmlns:a="http://schemas.openxmlformats.org/drawingml/2006/main">
              <a:ext uri="{FF2B5EF4-FFF2-40B4-BE49-F238E27FC236}">
                <a16:creationId xmlns:a16="http://schemas.microsoft.com/office/drawing/2014/main" id="{099B50BE-1BB3-45D9-B8C8-01C25182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2986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2026-07-15T16:15:42.9160000Z</dcterms:created>
  <dcterms:modified xsi:type="dcterms:W3CDTF">2026-07-15T16:15:42.9170000Z</dcterms:modified>
</coreProperties>
</file>